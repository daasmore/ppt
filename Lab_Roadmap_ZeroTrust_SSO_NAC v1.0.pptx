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945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201168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371600"/>
            <a:ext cx="1371600" cy="3771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1005840" cy="1005840"/>
          </a:xfrm>
          <a:prstGeom prst="rect">
            <a:avLst/>
          </a:prstGeom>
          <a:solidFill>
            <a:srgbClr val="2A3A8C"/>
          </a:solidFill>
          <a:ln w="12700">
            <a:solidFill>
              <a:srgbClr val="2A3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ADCFC"/>
                </a:solidFill>
              </a:rPr>
              <a:t>NETWORK ACCESS LAB IMPLEMENTATION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Network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+ SSO + NAC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CADCFC"/>
                </a:solidFill>
              </a:rPr>
              <a:t>Rencana</a:t>
            </a:r>
            <a:r>
              <a:rPr lang="en-US" sz="1300" dirty="0">
                <a:solidFill>
                  <a:srgbClr val="CADCFC"/>
                </a:solidFill>
              </a:rPr>
              <a:t> </a:t>
            </a:r>
            <a:r>
              <a:rPr lang="en-US" sz="1300" dirty="0" err="1">
                <a:solidFill>
                  <a:srgbClr val="CADCFC"/>
                </a:solidFill>
              </a:rPr>
              <a:t>tahapan</a:t>
            </a:r>
            <a:r>
              <a:rPr lang="en-US" sz="1300" dirty="0">
                <a:solidFill>
                  <a:srgbClr val="CADCFC"/>
                </a:solidFill>
              </a:rPr>
              <a:t> membangun lab </a:t>
            </a:r>
            <a:r>
              <a:rPr lang="en-US" sz="1300" dirty="0" err="1">
                <a:solidFill>
                  <a:srgbClr val="CADCFC"/>
                </a:solidFill>
              </a:rPr>
              <a:t>akses</a:t>
            </a:r>
            <a:r>
              <a:rPr lang="en-US" sz="1300" dirty="0">
                <a:solidFill>
                  <a:srgbClr val="CADCFC"/>
                </a:solidFill>
              </a:rPr>
              <a:t> </a:t>
            </a:r>
            <a:r>
              <a:rPr lang="en-US" sz="1300" dirty="0" err="1">
                <a:solidFill>
                  <a:srgbClr val="CADCFC"/>
                </a:solidFill>
              </a:rPr>
              <a:t>jaringan</a:t>
            </a:r>
            <a:r>
              <a:rPr lang="en-US" sz="1300" dirty="0">
                <a:solidFill>
                  <a:srgbClr val="CADCFC"/>
                </a:solidFill>
              </a:rPr>
              <a:t> level enterprise security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dengan tools open-source + Palo Alto PA-3050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44074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D0"/>
                </a:solidFill>
              </a:rPr>
              <a:t>Fase 0–6  ·  Estimasi 10–13 Minggu  ·  PA-3050 · FreeIPA · Keycloak · PacketFence · Authentik · Proxmox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GAMBARAN BESAR — APA YANG AKAN DIBANGUN?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2A3580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Lab enterprise security lengkap — user login sekali saja, perangkat dicek otomatis, setiap user hanya melihat aplikasi yang menjadi haknya. Ditenagai Palo Alto PA-3050 </a:t>
            </a:r>
            <a:r>
              <a:rPr lang="en-US" sz="1100" dirty="0" err="1">
                <a:solidFill>
                  <a:srgbClr val="FFFFFF"/>
                </a:solidFill>
              </a:rPr>
              <a:t>sebagai</a:t>
            </a:r>
            <a:r>
              <a:rPr lang="en-US" sz="1100" dirty="0">
                <a:solidFill>
                  <a:srgbClr val="FFFFFF"/>
                </a:solidFill>
              </a:rPr>
              <a:t> stateful firewall + Authentication Portal.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581912"/>
            <a:ext cx="2029968" cy="2578608"/>
          </a:xfrm>
          <a:prstGeom prst="roundRect">
            <a:avLst>
              <a:gd name="adj" fmla="val 3604"/>
            </a:avLst>
          </a:prstGeom>
          <a:solidFill>
            <a:srgbClr val="1A2255"/>
          </a:solidFill>
          <a:ln w="15240">
            <a:solidFill>
              <a:srgbClr val="BA75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581912"/>
            <a:ext cx="2029968" cy="475488"/>
          </a:xfrm>
          <a:prstGeom prst="roundRect">
            <a:avLst>
              <a:gd name="adj" fmla="val 1538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901952"/>
            <a:ext cx="2029968" cy="1645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6002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Single Login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Untuk Segalanya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" y="2249424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1762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PA-3050 Authentication Portal redirect ke Keycloak via SAML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2871216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79806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User login sekali di Keycloak + MFA — untuk jaringan sekaligus semua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" y="3493008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41985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Setelah login, semua app langsung bisa diakses tanpa input ulang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14016" y="1581912"/>
            <a:ext cx="2029968" cy="2578608"/>
          </a:xfrm>
          <a:prstGeom prst="roundRect">
            <a:avLst>
              <a:gd name="adj" fmla="val 3604"/>
            </a:avLst>
          </a:prstGeom>
          <a:solidFill>
            <a:srgbClr val="1A2255"/>
          </a:solidFill>
          <a:ln w="15240">
            <a:solidFill>
              <a:srgbClr val="E24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4016" y="1581912"/>
            <a:ext cx="2029968" cy="475488"/>
          </a:xfrm>
          <a:prstGeom prst="roundRect">
            <a:avLst>
              <a:gd name="adj" fmla="val 15385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14016" y="1901952"/>
            <a:ext cx="2029968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6184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71216" y="16002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NAC — Posture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Check Otomatis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42032" y="2249424"/>
            <a:ext cx="128016" cy="128016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21762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PacketFence cek antivirus di Windows secara otomatis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42032" y="2871216"/>
            <a:ext cx="128016" cy="128016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79806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Perangkat tidak comply diisolasi ke remediation VLAN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3493008"/>
            <a:ext cx="128016" cy="128016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341985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PA-3050 enforce firewall policy berdasarkan User-ID dari Keycloak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35424" y="1581912"/>
            <a:ext cx="2029968" cy="2578608"/>
          </a:xfrm>
          <a:prstGeom prst="roundRect">
            <a:avLst>
              <a:gd name="adj" fmla="val 3604"/>
            </a:avLst>
          </a:prstGeom>
          <a:solidFill>
            <a:srgbClr val="1A2255"/>
          </a:solidFill>
          <a:ln w="15240">
            <a:solidFill>
              <a:srgbClr val="639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1581912"/>
            <a:ext cx="2029968" cy="475488"/>
          </a:xfrm>
          <a:prstGeom prst="roundRect">
            <a:avLst>
              <a:gd name="adj" fmla="val 15385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35424" y="1901952"/>
            <a:ext cx="2029968" cy="1645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16184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92624" y="16002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Centralized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Identity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249424"/>
            <a:ext cx="128016" cy="128016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1762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FreeIPA sebagai satu direktori untuk semua user &amp; role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871216"/>
            <a:ext cx="128016" cy="128016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79806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Keycloak query ke FreeIPA — satu sumber kebenaran tunggal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493008"/>
            <a:ext cx="128016" cy="128016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1985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PA-3050 User-ID mapping: firewall policy berbasis username/group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56832" y="1581912"/>
            <a:ext cx="2029968" cy="2578608"/>
          </a:xfrm>
          <a:prstGeom prst="roundRect">
            <a:avLst>
              <a:gd name="adj" fmla="val 3604"/>
            </a:avLst>
          </a:prstGeom>
          <a:solidFill>
            <a:srgbClr val="1A2255"/>
          </a:solidFill>
          <a:ln w="15240">
            <a:solidFill>
              <a:srgbClr val="1D9E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832" y="1581912"/>
            <a:ext cx="2029968" cy="475488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6832" y="1901952"/>
            <a:ext cx="2029968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16184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14032" y="16002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Role-Based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App Portal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84848" y="2249424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217627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User A hanya melihat App 1, 2, 3 di portal Authentik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4848" y="287121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79806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User B hanya melihat App 4, 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84848" y="3493008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341985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</a:rPr>
              <a:t>Akses ke app lain ditolak meski tahu URL-nya langsung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0" y="4462272"/>
            <a:ext cx="6400800" cy="384048"/>
          </a:xfrm>
          <a:prstGeom prst="roundRect">
            <a:avLst>
              <a:gd name="adj" fmla="val 19048"/>
            </a:avLst>
          </a:prstGeom>
          <a:solidFill>
            <a:srgbClr val="1D9E75"/>
          </a:solidFill>
          <a:ln/>
        </p:spPr>
      </p:sp>
      <p:sp>
        <p:nvSpPr>
          <p:cNvPr id="51" name="Text 49"/>
          <p:cNvSpPr/>
          <p:nvPr/>
        </p:nvSpPr>
        <p:spPr>
          <a:xfrm>
            <a:off x="1371600" y="44622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PA-3050 dipakai sebagai router + firewall + Authentication Portal — tanpa butuh subscription aktif.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A42"/>
          </a:solidFill>
          <a:ln w="12700">
            <a:solidFill>
              <a:srgbClr val="131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TOOLS YANG DIGUNAKAN &amp; ALASAN PEMILIHAN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749808"/>
            <a:ext cx="256032" cy="1005840"/>
          </a:xfrm>
          <a:prstGeom prst="rect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698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841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Palo Alto PA-3050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1069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5C1A"/>
                </a:solidFill>
              </a:rPr>
              <a:t>Router + Firewall + Authentication Portal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68680" y="12527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Hardware NGFW fisik yang sudah tersedia. Subscription mati tapi core PAN-OS tetap bisa: routing, firewall stateful, dan Authentication Portal → SAML ke Keycloak. Tidak butuh subscription untuk fitur ini.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09160" y="749808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749808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56048" y="749808"/>
            <a:ext cx="256032" cy="100584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06984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841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FreeIPA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1069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9922"/>
                </a:solidFill>
              </a:rPr>
              <a:t>Identity Store (LDAP + Kerberos)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03520" y="12527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All-in-one: LDAP + Kerberos + DNS + CA dalam satu paket. Setara Active Directory versi open-source. Sumber kebenaran tunggal untuk semua user, group, dan role yang di-query Keycloak.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19202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1920240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1208" y="1920240"/>
            <a:ext cx="256032" cy="10058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22402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Keycloak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6868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7517"/>
                </a:solidFill>
              </a:rPr>
              <a:t>IdP Tunggal — Jaringan + SSO + MFA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68680" y="2423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Satu-satunya pintu autentikasi. PA-3050 Authentication Portal redirect ke Keycloak via SAML. Setelah login + MFA, token SSO berlaku untuk semua aplikasi via Authentik.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709160" y="192024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1920240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56048" y="1920240"/>
            <a:ext cx="256032" cy="10058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224028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0352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PacketFence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30352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</a:rPr>
              <a:t>NAC + Posture Check Antivirus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303520" y="2423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Khusus untuk posture check: cek registry Windows apakah antivirus terinstall. Device tidak comply diisolasi ke VLAN. Tetap dibutuhkan </a:t>
            </a:r>
            <a:r>
              <a:rPr lang="en-US" sz="850" dirty="0" err="1">
                <a:solidFill>
                  <a:srgbClr val="94A3B8"/>
                </a:solidFill>
              </a:rPr>
              <a:t>karena</a:t>
            </a:r>
            <a:r>
              <a:rPr lang="en-US" sz="850" dirty="0">
                <a:solidFill>
                  <a:srgbClr val="94A3B8"/>
                </a:solidFill>
              </a:rPr>
              <a:t> PA-3050 tanpa lisensi GlobalProtect tidak bisa HIP check.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74320" y="309067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3090672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21208" y="3090672"/>
            <a:ext cx="256032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" y="3410712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6868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Authentik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68680" y="3410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</a:rPr>
              <a:t>App Portal + RBAC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68680" y="3593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Portal aplikasi yang tampilkan app sesuai role user. SSO token dari Keycloak memungkinkan user langsung masuk tanpa login ulang. Built-in reverse proxy + SP terhadap Keycloak.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709160" y="3090672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3090672"/>
            <a:ext cx="502920" cy="1005840"/>
          </a:xfrm>
          <a:prstGeom prst="roundRect">
            <a:avLst>
              <a:gd name="adj" fmla="val 14545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956048" y="3090672"/>
            <a:ext cx="256032" cy="10058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3410712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30352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1A42"/>
                </a:solidFill>
              </a:rPr>
              <a:t>Proxmox VE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5303520" y="34107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8ADD"/>
                </a:solidFill>
              </a:rPr>
              <a:t>Hypervisor — Semua VM Server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5303520" y="35935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Semua VM (FreeIPA, Keycloak, PacketFence, Authentik, App VMs) jalan di Proxmox. PA-3050 adalah hardware fisik terpisah. Linux Bridge di Proxmox menggantikan switch fisik untuk segmentasi VLAN.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ARSITEKTUR LAB — PA-3050 FISIK + PROXMOX VM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017520" cy="4114800"/>
          </a:xfrm>
          <a:prstGeom prst="roundRect">
            <a:avLst>
              <a:gd name="adj" fmla="val 3030"/>
            </a:avLst>
          </a:prstGeom>
          <a:solidFill>
            <a:srgbClr val="1A1A1A"/>
          </a:solidFill>
          <a:ln w="25400">
            <a:solidFill>
              <a:srgbClr val="FA5C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503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A5C1A"/>
                </a:solidFill>
              </a:rPr>
              <a:t>PALO ALTO PA-3050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8813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Hardware Fisik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Routing + Firewall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E0D0"/>
                </a:solidFill>
              </a:rPr>
              <a:t>Inter-VLAN, stateful FW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C44010"/>
          </a:solidFill>
          <a:ln w="12700">
            <a:solidFill>
              <a:srgbClr val="C440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Authentication Portal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E0D0"/>
                </a:solidFill>
              </a:rPr>
              <a:t>Redirect → Keycloak via SAML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8B2D08"/>
          </a:solidFill>
          <a:ln w="12700">
            <a:solidFill>
              <a:srgbClr val="8B2D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User-ID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98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E0D0"/>
                </a:solidFill>
              </a:rPr>
              <a:t>User-to-IP mapping post-login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5A1A00"/>
          </a:solidFill>
          <a:ln w="12700">
            <a:solidFill>
              <a:srgbClr val="5A1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04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VLAN Enforcement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0E0D0"/>
                </a:solidFill>
              </a:rPr>
              <a:t>Isolasi device tidak comply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2651760" cy="438912"/>
          </a:xfrm>
          <a:prstGeom prst="roundRect">
            <a:avLst>
              <a:gd name="adj" fmla="val 12500"/>
            </a:avLst>
          </a:prstGeom>
          <a:solidFill>
            <a:srgbClr val="2A1A00"/>
          </a:solidFill>
          <a:ln w="10160">
            <a:solidFill>
              <a:srgbClr val="8855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2219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AA44"/>
                </a:solidFill>
              </a:rPr>
              <a:t>⚠ </a:t>
            </a:r>
            <a:r>
              <a:rPr lang="en-US" sz="800" dirty="0">
                <a:solidFill>
                  <a:srgbClr val="DDAA88"/>
                </a:solidFill>
              </a:rPr>
              <a:t>Subscription mati — NGFW/IPS/URL filter tidak aktif. Routing + FW + Auth Portal tetap berjalan.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2633472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46120" y="24505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traffic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03320" y="77724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1A2255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8503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D9E75"/>
                </a:solidFill>
              </a:rPr>
              <a:t>PROXMOX VE HOST  —  VM Server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10881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Linux Bridge (vmbr) menggantikan switch fisik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0" y="1389888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389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FreeIPA VM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31920" y="16642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Identity Store (LDAP)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0" y="1956816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19568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Keycloak VM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31920" y="22311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IdP Tunggal + MFA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840480" y="252374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25237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PacketFence VM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3192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NAC + Posture Check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40480" y="309067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090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Windows 11 VM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31920" y="3364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Client endpoint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55080" y="1389888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389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Authentik VM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46520" y="166420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App Portal RBAC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55080" y="1956816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19568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 VM 1–2–3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46520" y="22311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Role A — Apps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55080" y="252374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1D4E35"/>
          </a:solidFill>
          <a:ln w="12700">
            <a:solidFill>
              <a:srgbClr val="1D4E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5237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 VM 4–5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46520" y="27980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Role B — Apps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55080" y="309067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334070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090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vmbr0/1/2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46520" y="3364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EEE0"/>
                </a:solidFill>
              </a:rPr>
              <a:t>vSwitch segmentasi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4681728"/>
            <a:ext cx="8686800" cy="27432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PA-3050 (fisik) sebagai pintu masuk jaringan — semua VM server jalan di Proxmox — tidak perlu switch fisik tambahan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A42"/>
          </a:solidFill>
          <a:ln w="12700">
            <a:solidFill>
              <a:srgbClr val="131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FLOW AUTENTIKASI — SINGLE LOGIN END-TO-END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86968"/>
            <a:ext cx="420624" cy="420624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32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Konek Jaringan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06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Windows VM konek ke jaringan. PA-3050 detect traffic dari IP yang belum ter-autentikasi.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152144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61872"/>
            <a:ext cx="420624" cy="42062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207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Redirect ke Keycloak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PA-3050 Authentication Portal intercept traffic HTTP/S → redirect browser ke Keycloak login page via SAML.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527048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636776"/>
            <a:ext cx="420624" cy="42062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Login + MFA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1856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User input credential (Keycloak query ke FreeIPA). Challenge MFA/TOTP. Ini satu-satunya login yang user rasakan.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11680"/>
            <a:ext cx="420624" cy="420624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1956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SAML Assertion ke PA-800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231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Keycloak kirim SAML assertion → PA-3050 verifikasi → jaringan terbuka. User-ID mapping aktif di PA-3050.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76856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386584"/>
            <a:ext cx="420624" cy="42062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Posture Check (Auto)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PacketFence cek registry Windows di background — apakah antivirus terinstall? Jika tidak → isolasi VLAN via PA-3050.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651760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706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Buka App Portal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2980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Browser buka Authentik portal. Keycloak SSO sesi masih aktif → user langsung masuk tanpa input lagi.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26664"/>
            <a:ext cx="41148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136392"/>
            <a:ext cx="420624" cy="42062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Akses App via SSO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3355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Portal tampilkan hanya app sesuai role. Klik app → langsung masuk via SSO token Keycloak. Tidak ada login ke-2.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498848"/>
            <a:ext cx="8595360" cy="320040"/>
          </a:xfrm>
          <a:prstGeom prst="roundRect">
            <a:avLst>
              <a:gd name="adj" fmla="val 20000"/>
            </a:avLst>
          </a:prstGeom>
          <a:solidFill>
            <a:srgbClr val="BA7517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4988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  Hanya step 3 yang user rasakan sebagai 'login'</a:t>
            </a:r>
            <a:r>
              <a:rPr lang="en-US" sz="1000" dirty="0">
                <a:solidFill>
                  <a:srgbClr val="D0C8FF"/>
                </a:solidFill>
              </a:rPr>
              <a:t>  — PA-3050 + PacketFence + Keycloak bekerja otomatis di background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RINGKASAN 7 FASE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680960" cy="0"/>
          </a:xfrm>
          <a:prstGeom prst="line">
            <a:avLst/>
          </a:prstGeom>
          <a:noFill/>
          <a:ln w="25400">
            <a:solidFill>
              <a:srgbClr val="334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19072"/>
            <a:ext cx="402336" cy="402336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378ADD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Persiapan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Environment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~1 mgg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66544" y="1719072"/>
            <a:ext cx="402336" cy="402336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28216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63992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28216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FreeIPA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Identity Store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28216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~1–2 mgg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719072"/>
            <a:ext cx="402336" cy="40233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BA7517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80360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Keycloak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IdP + SSO + MFA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0360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~2–3 mgg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70832" y="1719072"/>
            <a:ext cx="402336" cy="40233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32504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1D9E75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32504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Authentik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App Portal RBAC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32504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~1–2 mgg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22976" y="1719072"/>
            <a:ext cx="402336" cy="402336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84648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E24B4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84648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PacketFence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NAC + Posture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~2–3 mgg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1719072"/>
            <a:ext cx="402336" cy="402336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36792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FA5C1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36792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PA-3050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Auth Portal + FW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36792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~1–2 mgg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27264" y="1719072"/>
            <a:ext cx="402336" cy="40233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88936" y="777240"/>
            <a:ext cx="1078992" cy="822960"/>
          </a:xfrm>
          <a:prstGeom prst="roundRect">
            <a:avLst>
              <a:gd name="adj" fmla="val 8889"/>
            </a:avLst>
          </a:prstGeom>
          <a:solidFill>
            <a:srgbClr val="5F5E5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88936" y="813816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Integrasi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End-to-End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88936" y="221284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~1 mgg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6517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/>
        </p:spPr>
      </p:sp>
      <p:sp>
        <p:nvSpPr>
          <p:cNvPr id="41" name="Text 39"/>
          <p:cNvSpPr/>
          <p:nvPr/>
        </p:nvSpPr>
        <p:spPr>
          <a:xfrm>
            <a:off x="228600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estimasi: 10–13 minggu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✓  </a:t>
            </a:r>
            <a:r>
              <a:rPr lang="en-US" sz="1100" dirty="0">
                <a:solidFill>
                  <a:srgbClr val="CADCFC"/>
                </a:solidFill>
              </a:rPr>
              <a:t>Fase 1–3 sudah menghasilkan SSO + RBAC yang bisa </a:t>
            </a:r>
            <a:r>
              <a:rPr lang="en-US" sz="1100" dirty="0" err="1">
                <a:solidFill>
                  <a:srgbClr val="CADCFC"/>
                </a:solidFill>
              </a:rPr>
              <a:t>didemonstrasikan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sebagai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tahapan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awal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✓  </a:t>
            </a:r>
            <a:r>
              <a:rPr lang="en-US" sz="1100" dirty="0">
                <a:solidFill>
                  <a:srgbClr val="CADCFC"/>
                </a:solidFill>
              </a:rPr>
              <a:t>Fase 5 (PA-3050) </a:t>
            </a:r>
            <a:r>
              <a:rPr lang="en-US" sz="1100" dirty="0" err="1">
                <a:solidFill>
                  <a:srgbClr val="CADCFC"/>
                </a:solidFill>
              </a:rPr>
              <a:t>akan</a:t>
            </a:r>
            <a:r>
              <a:rPr lang="en-US" sz="1100" dirty="0">
                <a:solidFill>
                  <a:srgbClr val="CADCFC"/>
                </a:solidFill>
              </a:rPr>
              <a:t> dikerjakan paralel dengan fase 1–3 karena hardware fisik terpisah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032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✓  </a:t>
            </a:r>
            <a:r>
              <a:rPr lang="en-US" sz="1100" dirty="0">
                <a:solidFill>
                  <a:srgbClr val="CADCFC"/>
                </a:solidFill>
              </a:rPr>
              <a:t>PA-3050 </a:t>
            </a:r>
            <a:r>
              <a:rPr lang="en-US" sz="1100" dirty="0" err="1">
                <a:solidFill>
                  <a:srgbClr val="CADCFC"/>
                </a:solidFill>
              </a:rPr>
              <a:t>seharusnya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tidak</a:t>
            </a:r>
            <a:r>
              <a:rPr lang="en-US" sz="1100" dirty="0">
                <a:solidFill>
                  <a:srgbClr val="CADCFC"/>
                </a:solidFill>
              </a:rPr>
              <a:t> butuh subscription aktif untuk Authentication Portal + SAML + routing + firewall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Lab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Proxmox VE  ·  Rocky Linux 9  ·  PA-3050 (basic setup)  ·  Windows 11 VM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Proxmox siap dengan 3 vSwitch, semua VM ter-deploy, PA-3050 terhubung ke jaringan lab sebagai gateway.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Install Proxmox + rancang topologi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Install Proxmox VE di bare-metal. Buat 3 Linux Bridge: vmbr0 (WAN </a:t>
            </a:r>
            <a:r>
              <a:rPr lang="en-US" sz="950" dirty="0" err="1">
                <a:solidFill>
                  <a:srgbClr val="94A3B8"/>
                </a:solidFill>
              </a:rPr>
              <a:t>ke</a:t>
            </a:r>
            <a:r>
              <a:rPr lang="en-US" sz="950" dirty="0">
                <a:solidFill>
                  <a:srgbClr val="94A3B8"/>
                </a:solidFill>
              </a:rPr>
              <a:t> PA-3050), vmbr1 (client), vmbr2 (server). Sketsa IP plan dan VLAN.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78ADD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2–3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Deploy semua VM server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Rocky Linux 9 untuk FreeIPA, Keycloak, PacketFence, Authentik, App VMs. Windows 11 sebagai client. Verifikasi konektivitas.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78ADD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2–3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Setup PA-800 sebagai gateway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Konfigurasi interface PA-3050: WAN (ke internet/lab), LAN (ke vmbr Proxmox). Setup routing dasar dan zona firewall. Pastikan VM bisa akses internet via PA-3050.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78ADD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2–3 hari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FreeIPA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Store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~1–2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FreeIPA  ·  ldapsearch CLI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Satu sumber identitas terpusat. User A &amp; B dibuat dengan group/role berbeda, bisa di-query via LDAP oleh Keycloak.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Pelajari konsep LDAP &amp; Kerberos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42733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Pahami struktur DN/OU/CN, perbedaan LDAP vs Kerberos, konsep realm dan ticket. Wajib sebelum install FreeIPA.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639922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Install &amp; konfigurasi FreeIPA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4308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Jalankan ipa-server-install di Rocky Linux. Setup DNS internal, CA, dan domain lab.local. Troubleshoot error yang sering muncul.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639922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Buat user, group &amp; verifikasi LDAP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4366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Buat user_a (group role-a) dan user_b (group role-b). Verifikasi ldapsearch dari VM lain. Ini fondasi dari semua fase berikutnya.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639922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1–2 hari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 Tunggal + MFA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~2–3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Keycloak (Docker)  ·  SAML 2.0 / OIDC  ·  Google Authenticator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Keycloak jadi satu-satunya pintu autentikasi — </a:t>
            </a:r>
            <a:r>
              <a:rPr lang="en-US" sz="1000" dirty="0" err="1">
                <a:solidFill>
                  <a:srgbClr val="94A3B8"/>
                </a:solidFill>
              </a:rPr>
              <a:t>untuk</a:t>
            </a:r>
            <a:r>
              <a:rPr lang="en-US" sz="1000" dirty="0">
                <a:solidFill>
                  <a:srgbClr val="94A3B8"/>
                </a:solidFill>
              </a:rPr>
              <a:t> PA-3050 Authentication Portal (SAML) sekaligus semua aplikasi (SSO).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Pelajari OAuth2, SAML 2.0 &amp; OIDC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Pahami flow authorization code, perbedaan SAML vs OIDC, konsep IdP vs SP. Krusial karena Keycloak akan </a:t>
            </a:r>
            <a:r>
              <a:rPr lang="en-US" sz="950" dirty="0" err="1">
                <a:solidFill>
                  <a:srgbClr val="94A3B8"/>
                </a:solidFill>
              </a:rPr>
              <a:t>dipakai</a:t>
            </a:r>
            <a:r>
              <a:rPr lang="en-US" sz="950" dirty="0">
                <a:solidFill>
                  <a:srgbClr val="94A3B8"/>
                </a:solidFill>
              </a:rPr>
              <a:t> PA-3050 (SAML) dan Authentik (OIDC).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4–5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Deploy Keycloak + integrasi FreeIPA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49970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Docker Compose di Rocky Linux. Buat realm 'lab', hubungkan ke FreeIPA via User Federation LDAP. Test sync user dan group.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Konfigurasi role mapping, RBAC &amp; MFA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Petakan group FreeIPA ke Keycloak roles. Buat SAML client </a:t>
            </a:r>
            <a:r>
              <a:rPr lang="en-US" sz="950" dirty="0" err="1">
                <a:solidFill>
                  <a:srgbClr val="94A3B8"/>
                </a:solidFill>
              </a:rPr>
              <a:t>untuk</a:t>
            </a:r>
            <a:r>
              <a:rPr lang="en-US" sz="950" dirty="0">
                <a:solidFill>
                  <a:srgbClr val="94A3B8"/>
                </a:solidFill>
              </a:rPr>
              <a:t> PA-3050, OIDC client untuk Authentik. Aktifkan TOTP/MFA policy.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Portal RBAC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~1–2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Authentik  ·  Nginx / Gitea / Grafana / Nextcloud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Login via Keycloak → portal muncul dengan app sesuai role. User A: App 1,2,3. User B: App 4,5. SSO tanpa login ulang.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Deploy Authentik + 5 target apps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Authentik via Docker Compose. Deploy 5 web app: Nginx, Gitea, Grafana, Portainer, Nextcloud. Tiap app mewakili resource yang berbeda role.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Konfigurasi app sebagai OIDC client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Daftarkan 5 app di Authentik dengan role restriction per app. Authentik sebagai reverse proxy + SP, Keycloak sebagai IdP.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Validasi SSO &amp; RBAC end-to-end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Login Keycloak → portal Authentik → app sesuai role → klik → langsung masuk. Verifikasi user_b tidak bisa akses app role-a.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D9E75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2–3 hari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PacketFence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 + Posture Check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~2–3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PacketFence  ·  Windows Registry check  ·  PA-3050 VLAN enforcement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PacketFence cek antivirus di Windows secara otomatis. Device tidak comply diisolasi ke remediation VLAN via PA-3050.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Pelajari arsitektur NAC &amp; PacketFence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Pahami pre vs post-admission, VLAN enforcement, posture check agentless via WMI/registry. Baca docs PacketFence sebelum install.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24B4A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4–5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Install PacketFence + posture check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Deploy di VM Rocky Linux (min 4GB RAM). Konfigurasi compliance check: cek registry key antivirus Windows. Test dengan VM tanpa AV.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24B4A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5–6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Integrasi dengan PA-800 untuk enforcement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4335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PacketFence kirim instruksi </a:t>
            </a:r>
            <a:r>
              <a:rPr lang="en-US" sz="950" dirty="0" err="1">
                <a:solidFill>
                  <a:srgbClr val="94A3B8"/>
                </a:solidFill>
              </a:rPr>
              <a:t>ke</a:t>
            </a:r>
            <a:r>
              <a:rPr lang="en-US" sz="950" dirty="0">
                <a:solidFill>
                  <a:srgbClr val="94A3B8"/>
                </a:solidFill>
              </a:rPr>
              <a:t> PA-3050 untuk VLAN assignment device tidak comply. Test isolasi: device tanpa AV masuk remediation VLAN.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24B4A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CDDFF"/>
                </a:solidFill>
              </a:rPr>
              <a:t>FASE 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PA-3050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Portal + FW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2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~1–2 minggu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" y="3383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CCDDFF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14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PAN-OS Authentication Portal  ·  SAML SP config  ·  User-ID  ·  Security Policy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82880"/>
            <a:ext cx="60350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63240" y="182880"/>
            <a:ext cx="5806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1A42"/>
                </a:solidFill>
              </a:rPr>
              <a:t>Tujuan:  </a:t>
            </a:r>
            <a:r>
              <a:rPr lang="en-US" sz="1000" dirty="0">
                <a:solidFill>
                  <a:srgbClr val="94A3B8"/>
                </a:solidFill>
              </a:rPr>
              <a:t>PA-3050 dikonfigurasi sebagai Authentication Portal yang redirect ke Keycloak via SAML untuk single login jaringan.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96012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35808" y="1143000"/>
            <a:ext cx="384048" cy="384048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58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20440" y="1014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Pelajari PAN-OS Authentication Portal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13441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Pahami konsep User-ID, Authentication Portal modes (redirect vs web-form), SAML SP configuration di PAN-OS. Baca docs Palo Alto sebelum konfigurasi.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21040" y="110642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A5C1A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1064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3–4 hari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26080" y="182880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35808" y="2011680"/>
            <a:ext cx="384048" cy="384048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358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20440" y="1883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Konfigurasi SAML SP ke Keycloak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20440" y="22128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 PAN-OS: buat SAML IdP profile (import metadata Keycloak), buat Authentication Profile, konfigurasi Authentication Policy. Test redirect flow.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A5C1A"/>
          </a:solidFill>
          <a:ln/>
        </p:spPr>
      </p:sp>
      <p:sp>
        <p:nvSpPr>
          <p:cNvPr id="25" name="Text 22"/>
          <p:cNvSpPr/>
          <p:nvPr/>
        </p:nvSpPr>
        <p:spPr>
          <a:xfrm>
            <a:off x="8321040" y="1975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4–5 hari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926080" y="2697480"/>
            <a:ext cx="6035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35808" y="2880360"/>
            <a:ext cx="384048" cy="384048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3580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2044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Firewall rules + User-ID policy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20440" y="30815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Buat security policy berbasis username/group dari User-ID. Pastikan hanya user yang sudah autentikasi bisa akses server segment.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321040" y="284378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A5C1A"/>
          </a:solidFill>
          <a:ln/>
        </p:spPr>
      </p:sp>
      <p:sp>
        <p:nvSpPr>
          <p:cNvPr id="32" name="Text 29"/>
          <p:cNvSpPr/>
          <p:nvPr/>
        </p:nvSpPr>
        <p:spPr>
          <a:xfrm>
            <a:off x="8321040" y="28437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2–3 hari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A42"/>
          </a:solidFill>
          <a:ln w="12700">
            <a:solidFill>
              <a:srgbClr val="131A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ADCFC"/>
                </a:solidFill>
              </a:rPr>
              <a:t>FASE 6 — INTEGRASI END-TO-END &amp; VALIDASI  ·  ~1 MINGGU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886968"/>
            <a:ext cx="731520" cy="7315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97840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A42"/>
                </a:solidFill>
              </a:rPr>
              <a:t>Full flow test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2029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Konek → PA-3050 intercept → redirect Keycloak login+MFA → SAML assertion → jaringan terbuka → posture AV → portal → SSO → masuk app.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7772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886968"/>
            <a:ext cx="731520" cy="73152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97840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A42"/>
                </a:solidFill>
              </a:rPr>
              <a:t>Negative testing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10128" y="2029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Salah password, tidak ada AV (→ isolasi VLAN), role salah (→ app tidak tampil), expired session. Tiap kegagalan harus response yang benar.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0760" y="7772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886968"/>
            <a:ext cx="731520" cy="731520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97840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A42"/>
                </a:solidFill>
              </a:rPr>
              <a:t>Dokumentasi lab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0488" y="2029968"/>
            <a:ext cx="2523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Diagram topologi final </a:t>
            </a:r>
            <a:r>
              <a:rPr lang="en-US" sz="950" dirty="0" err="1">
                <a:solidFill>
                  <a:srgbClr val="94A3B8"/>
                </a:solidFill>
              </a:rPr>
              <a:t>termasuk</a:t>
            </a:r>
            <a:r>
              <a:rPr lang="en-US" sz="950" dirty="0">
                <a:solidFill>
                  <a:srgbClr val="94A3B8"/>
                </a:solidFill>
              </a:rPr>
              <a:t> PA-3050 fisik. Catat config PAN-OS, Keycloak SAML, PacketFence posture. Buat runbook untuk replikasi.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A42"/>
                </a:solidFill>
              </a:rPr>
              <a:t>Ringkasan Stack &amp; Estimasi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4087"/>
              </p:ext>
            </p:extLst>
          </p:nvPr>
        </p:nvGraphicFramePr>
        <p:xfrm>
          <a:off x="365760" y="3200400"/>
          <a:ext cx="7498080" cy="1889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Env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Hypervisor + vSwitch + PA-3050 basic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 VE + PA-3050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 / Kerberos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FreeIPA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IdP/SSO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SAML, OIDC, MFA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~2–3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Portal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RBAC + SSO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NAC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Check AV + VLAN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PacketFence → PA-3050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~2–3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PA-3050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Portal + SAML + Firewall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PAN-OS Auth Portal → Keycloak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~1–2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Integrasi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test + docs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komponen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4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mgg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356616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</a:rPr>
              <a:t>MULAI DARI MANA?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41148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914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Setup Proxmox + vSwitch + PA-3050 sebagai gateway dasar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1148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36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1–2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536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Deploy FreeIPA + Keycloak → test SSO + MFA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148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157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1579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Deploy Authentik → daftarkan 5 app → validasi RBAC per role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411480" cy="4114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797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4–5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2779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PacketFence posture check + PA-3050 Authentication Portal → SAML → single login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547872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4–5 adalah kunci single login: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PacketFence posture + PA-3050 Auth Portal + Keycloak SAML bekerja bersama.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4165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EE0"/>
                </a:solidFill>
              </a:rPr>
              <a:t>PA-3050 tanpa subscription aktif — semua fitur yang dipakai tidak butuh lisensi content.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DEMO GUIDE — CARA MENDEMOKAN KE KLIEN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A2255"/>
          </a:solidFill>
          <a:ln w="1524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731520" cy="347472"/>
          </a:xfrm>
          <a:prstGeom prst="roundRect">
            <a:avLst>
              <a:gd name="adj" fmla="val 157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Opsi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813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Snapshot Revert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Ambil snapshot VM saat kondisi fresh/belum login. Sebelum demo, revert ke snapshot — VM langsung dalam kondisi baru konek. Paling clean untuk demo formal ke klien.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A2255"/>
          </a:solidFill>
          <a:ln w="15240">
            <a:solidFill>
              <a:srgbClr val="BA75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11680"/>
            <a:ext cx="731520" cy="347472"/>
          </a:xfrm>
          <a:prstGeom prst="roundRect">
            <a:avLst>
              <a:gd name="adj" fmla="val 15789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Opsi 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2048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Clear PA-3050 User-ID Session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Dari PA-3050 CLI: clear user-cache ip &lt;IP_client_VM&gt;  —  Session auth dihapus, VM seolah baru konek. PA-3050 intercept lagi saat buka browser. Paling cepat untuk demo sehari-hari.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A2255"/>
          </a:solidFill>
          <a:ln w="15240">
            <a:solidFill>
              <a:srgbClr val="7F77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731520" cy="347472"/>
          </a:xfrm>
          <a:prstGeom prst="roundRect">
            <a:avLst>
              <a:gd name="adj" fmla="val 15789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Opsi 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" y="3282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Disconnect / Reconnect vNIC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61188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Di Proxmox web UI: detach network interface VM dari vmbr1, lalu attach kembali. VM dapat IP baru dari DHCP → PA-3050 treat sebagai device baru yang belum autentikasi.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526280"/>
            <a:ext cx="3931920" cy="292608"/>
          </a:xfrm>
          <a:prstGeom prst="roundRect">
            <a:avLst>
              <a:gd name="adj" fmla="val 18750"/>
            </a:avLst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526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  Rekomendasi: Opsi B sehari-hari  +  Opsi A untuk demo formal ke klien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749808"/>
            <a:ext cx="4480560" cy="4114800"/>
          </a:xfrm>
          <a:prstGeom prst="roundRect">
            <a:avLst>
              <a:gd name="adj" fmla="val 1778"/>
            </a:avLst>
          </a:prstGeom>
          <a:solidFill>
            <a:srgbClr val="12184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822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A7517"/>
                </a:solidFill>
              </a:rPr>
              <a:t>FLOW YANG DILIHAT KLIEN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225296"/>
            <a:ext cx="292608" cy="2926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117043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Windows VM menyala — belum ada jaringan / session di-clear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64024" y="1517904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655064"/>
            <a:ext cx="292608" cy="292608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1600200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Jaringan aktif → PA-3050 detect IP baru, belum autentikasi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64024" y="1947672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084832"/>
            <a:ext cx="292608" cy="292608"/>
          </a:xfrm>
          <a:prstGeom prst="ellipse">
            <a:avLst/>
          </a:prstGeom>
          <a:solidFill>
            <a:srgbClr val="FA5C1A"/>
          </a:solidFill>
          <a:ln w="12700">
            <a:solidFill>
              <a:srgbClr val="FA5C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2029968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User buka browser → PA-3050 intercept → redirect ke Keycloak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64024" y="2377440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514600"/>
            <a:ext cx="292608" cy="2926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2459736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User input credential + MFA (TOTP) — satu-satunya login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64024" y="2807208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2944368"/>
            <a:ext cx="292608" cy="29260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2889504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Jaringan terbuka + posture AV check berjalan otomatis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64024" y="3236976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374136"/>
            <a:ext cx="292608" cy="2926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331927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Buka Authentik portal → app muncul sesuai role user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64024" y="3666744"/>
            <a:ext cx="0" cy="109728"/>
          </a:xfrm>
          <a:prstGeom prst="line">
            <a:avLst/>
          </a:prstGeom>
          <a:noFill/>
          <a:ln w="12700">
            <a:solidFill>
              <a:srgbClr val="334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3803904"/>
            <a:ext cx="292608" cy="2926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3749040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</a:rPr>
              <a:t>Klik app → langsung masuk via SSO, tidak ada login lagi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34840" y="4206240"/>
            <a:ext cx="4480560" cy="594360"/>
          </a:xfrm>
          <a:prstGeom prst="roundRect">
            <a:avLst>
              <a:gd name="adj" fmla="val 10769"/>
            </a:avLst>
          </a:prstGeom>
          <a:solidFill>
            <a:srgbClr val="1A2A1A"/>
          </a:solidFill>
          <a:ln w="10160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44568" y="4224528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💡  Client VM di lab = </a:t>
            </a:r>
            <a:r>
              <a:rPr lang="en-US" sz="850" b="1" dirty="0">
                <a:solidFill>
                  <a:srgbClr val="1D9E75"/>
                </a:solidFill>
              </a:rPr>
              <a:t>PC/laptop fisik user</a:t>
            </a:r>
            <a:r>
              <a:rPr lang="en-US" sz="850" dirty="0">
                <a:solidFill>
                  <a:srgbClr val="94A3B8"/>
                </a:solidFill>
              </a:rPr>
              <a:t> di production. Flow demo identik — hanya medium koneksinya berbeda (virtual vs fisik).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2319</Words>
  <Application>Microsoft Office PowerPoint</Application>
  <PresentationFormat>On-screen Show (16:9)</PresentationFormat>
  <Paragraphs>352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Roadmap – Zero Trust SSO NAC</dc:title>
  <dc:subject>PptxGenJS Presentation</dc:subject>
  <dc:creator>PptxGenJS</dc:creator>
  <cp:lastModifiedBy>Gani Purbosudibyo</cp:lastModifiedBy>
  <cp:revision>4</cp:revision>
  <dcterms:created xsi:type="dcterms:W3CDTF">2026-06-10T22:40:07Z</dcterms:created>
  <dcterms:modified xsi:type="dcterms:W3CDTF">2026-06-11T01:36:36Z</dcterms:modified>
</cp:coreProperties>
</file>